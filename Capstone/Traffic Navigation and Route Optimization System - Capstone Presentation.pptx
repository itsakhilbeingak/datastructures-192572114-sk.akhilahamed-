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2298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097280"/>
            <a:ext cx="82296" cy="82296"/>
          </a:xfrm>
          <a:prstGeom prst="ellipse">
            <a:avLst/>
          </a:prstGeom>
          <a:solidFill>
            <a:srgbClr val="1754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377440" y="640080"/>
            <a:ext cx="82296" cy="82296"/>
          </a:xfrm>
          <a:prstGeom prst="ellipse">
            <a:avLst/>
          </a:prstGeom>
          <a:solidFill>
            <a:srgbClr val="1754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931920" y="1463040"/>
            <a:ext cx="82296" cy="82296"/>
          </a:xfrm>
          <a:prstGeom prst="ellipse">
            <a:avLst/>
          </a:prstGeom>
          <a:solidFill>
            <a:srgbClr val="1754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82296" cy="82296"/>
          </a:xfrm>
          <a:prstGeom prst="ellipse">
            <a:avLst/>
          </a:prstGeom>
          <a:solidFill>
            <a:srgbClr val="1754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194560" y="3291840"/>
            <a:ext cx="82296" cy="82296"/>
          </a:xfrm>
          <a:prstGeom prst="ellipse">
            <a:avLst/>
          </a:prstGeom>
          <a:solidFill>
            <a:srgbClr val="1754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206240" y="2926080"/>
            <a:ext cx="82296" cy="82296"/>
          </a:xfrm>
          <a:prstGeom prst="ellipse">
            <a:avLst/>
          </a:prstGeom>
          <a:solidFill>
            <a:srgbClr val="1754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881360" y="5120640"/>
            <a:ext cx="82296" cy="82296"/>
          </a:xfrm>
          <a:prstGeom prst="ellipse">
            <a:avLst/>
          </a:prstGeom>
          <a:solidFill>
            <a:srgbClr val="1754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92640" y="5852160"/>
            <a:ext cx="82296" cy="82296"/>
          </a:xfrm>
          <a:prstGeom prst="ellipse">
            <a:avLst/>
          </a:prstGeom>
          <a:solidFill>
            <a:srgbClr val="1754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521440" y="6035040"/>
            <a:ext cx="82296" cy="82296"/>
          </a:xfrm>
          <a:prstGeom prst="ellipse">
            <a:avLst/>
          </a:prstGeom>
          <a:solidFill>
            <a:srgbClr val="1754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241280" y="4023360"/>
            <a:ext cx="82296" cy="82296"/>
          </a:xfrm>
          <a:prstGeom prst="ellipse">
            <a:avLst/>
          </a:prstGeom>
          <a:solidFill>
            <a:srgbClr val="1754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 flipV="1">
            <a:off x="1051560" y="685800"/>
            <a:ext cx="1371600" cy="457200"/>
          </a:xfrm>
          <a:prstGeom prst="line">
            <a:avLst/>
          </a:prstGeom>
          <a:noFill/>
          <a:ln w="12700">
            <a:solidFill>
              <a:srgbClr val="175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423160" y="685800"/>
            <a:ext cx="1554480" cy="822960"/>
          </a:xfrm>
          <a:prstGeom prst="line">
            <a:avLst/>
          </a:prstGeom>
          <a:noFill/>
          <a:ln w="12700">
            <a:solidFill>
              <a:srgbClr val="175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 flipH="1">
            <a:off x="777240" y="1143000"/>
            <a:ext cx="274320" cy="1645920"/>
          </a:xfrm>
          <a:prstGeom prst="line">
            <a:avLst/>
          </a:prstGeom>
          <a:noFill/>
          <a:ln w="12700">
            <a:solidFill>
              <a:srgbClr val="175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77240" y="2788920"/>
            <a:ext cx="1463040" cy="548640"/>
          </a:xfrm>
          <a:prstGeom prst="line">
            <a:avLst/>
          </a:prstGeom>
          <a:noFill/>
          <a:ln w="12700">
            <a:solidFill>
              <a:srgbClr val="175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 flipV="1">
            <a:off x="2240280" y="2971800"/>
            <a:ext cx="2011680" cy="365760"/>
          </a:xfrm>
          <a:prstGeom prst="line">
            <a:avLst/>
          </a:prstGeom>
          <a:noFill/>
          <a:ln w="12700">
            <a:solidFill>
              <a:srgbClr val="175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977640" y="1508760"/>
            <a:ext cx="274320" cy="1463040"/>
          </a:xfrm>
          <a:prstGeom prst="line">
            <a:avLst/>
          </a:prstGeom>
          <a:noFill/>
          <a:ln w="12700">
            <a:solidFill>
              <a:srgbClr val="175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 flipH="1">
            <a:off x="9738360" y="5166360"/>
            <a:ext cx="1188720" cy="731520"/>
          </a:xfrm>
          <a:prstGeom prst="line">
            <a:avLst/>
          </a:prstGeom>
          <a:noFill/>
          <a:ln w="12700">
            <a:solidFill>
              <a:srgbClr val="175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738360" y="5897880"/>
            <a:ext cx="1828800" cy="182880"/>
          </a:xfrm>
          <a:prstGeom prst="line">
            <a:avLst/>
          </a:prstGeom>
          <a:noFill/>
          <a:ln w="12700">
            <a:solidFill>
              <a:srgbClr val="175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 flipH="1" flipV="1">
            <a:off x="10287000" y="4069080"/>
            <a:ext cx="1280160" cy="2011680"/>
          </a:xfrm>
          <a:prstGeom prst="line">
            <a:avLst/>
          </a:prstGeom>
          <a:noFill/>
          <a:ln w="12700">
            <a:solidFill>
              <a:srgbClr val="175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 flipH="1" flipV="1">
            <a:off x="10287000" y="4069080"/>
            <a:ext cx="640080" cy="1097280"/>
          </a:xfrm>
          <a:prstGeom prst="line">
            <a:avLst/>
          </a:prstGeom>
          <a:noFill/>
          <a:ln w="12700">
            <a:solidFill>
              <a:srgbClr val="175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CSA0303  ·  DATA STRUCTURES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187452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Navigation and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Optimization System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822960" y="36118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Graph Data Structures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22960" y="4343400"/>
            <a:ext cx="2926080" cy="0"/>
          </a:xfrm>
          <a:prstGeom prst="line">
            <a:avLst/>
          </a:prstGeom>
          <a:noFill/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22960" y="46177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sk.akhil ahammed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ch.akhil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206240" y="4617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9F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192572114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9F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192525250</a:t>
            </a:r>
          </a:p>
        </p:txBody>
      </p:sp>
      <p:sp>
        <p:nvSpPr>
          <p:cNvPr id="28" name="Text 26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the Faculty and Students Panel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traffic congestion makes static, distance-only navigation unreliable — drivers need routes that react to real conditions, not just the shortest line on a map.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353872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3538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35661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Routing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38587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ignore live congestion and recompute routes rarely, if at all.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445312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4453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44805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Travel Time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47731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Fixed-distance paths often are not the fastest path in real traffic.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536752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5367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53949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Dynamic Response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56875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closures and slowdowns are not reflected in the route in real time.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75120" y="1600200"/>
            <a:ext cx="4937760" cy="4617720"/>
          </a:xfrm>
          <a:prstGeom prst="roundRect">
            <a:avLst>
              <a:gd name="adj" fmla="val 1782"/>
            </a:avLst>
          </a:prstGeom>
          <a:solidFill>
            <a:srgbClr val="E9F1F6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949440" y="18288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CONGESTED CITY GRID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2468880"/>
            <a:ext cx="1097280" cy="914"/>
          </a:xfrm>
          <a:prstGeom prst="line">
            <a:avLst/>
          </a:prstGeom>
          <a:noFill/>
          <a:ln w="38100">
            <a:solidFill>
              <a:srgbClr val="C97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503920" y="2468880"/>
            <a:ext cx="1097280" cy="914"/>
          </a:xfrm>
          <a:prstGeom prst="line">
            <a:avLst/>
          </a:prstGeom>
          <a:noFill/>
          <a:ln w="25400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601200" y="2468880"/>
            <a:ext cx="1097280" cy="914"/>
          </a:xfrm>
          <a:prstGeom prst="line">
            <a:avLst/>
          </a:prstGeom>
          <a:noFill/>
          <a:ln w="25400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406640" y="3520440"/>
            <a:ext cx="1097280" cy="914"/>
          </a:xfrm>
          <a:prstGeom prst="line">
            <a:avLst/>
          </a:prstGeom>
          <a:noFill/>
          <a:ln w="25400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503920" y="3520440"/>
            <a:ext cx="1097280" cy="914"/>
          </a:xfrm>
          <a:prstGeom prst="line">
            <a:avLst/>
          </a:prstGeom>
          <a:noFill/>
          <a:ln w="25400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601200" y="3520440"/>
            <a:ext cx="1097280" cy="914"/>
          </a:xfrm>
          <a:prstGeom prst="line">
            <a:avLst/>
          </a:prstGeom>
          <a:noFill/>
          <a:ln w="38100">
            <a:solidFill>
              <a:srgbClr val="C97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406640" y="4572000"/>
            <a:ext cx="1097280" cy="914"/>
          </a:xfrm>
          <a:prstGeom prst="line">
            <a:avLst/>
          </a:prstGeom>
          <a:noFill/>
          <a:ln w="25400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503920" y="4572000"/>
            <a:ext cx="1097280" cy="914"/>
          </a:xfrm>
          <a:prstGeom prst="line">
            <a:avLst/>
          </a:prstGeom>
          <a:noFill/>
          <a:ln w="38100">
            <a:solidFill>
              <a:srgbClr val="C97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601200" y="4572000"/>
            <a:ext cx="1097280" cy="914"/>
          </a:xfrm>
          <a:prstGeom prst="line">
            <a:avLst/>
          </a:prstGeom>
          <a:noFill/>
          <a:ln w="25400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406640" y="5623560"/>
            <a:ext cx="1097280" cy="914"/>
          </a:xfrm>
          <a:prstGeom prst="line">
            <a:avLst/>
          </a:prstGeom>
          <a:noFill/>
          <a:ln w="38100">
            <a:solidFill>
              <a:srgbClr val="C97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503920" y="5623560"/>
            <a:ext cx="1097280" cy="914"/>
          </a:xfrm>
          <a:prstGeom prst="line">
            <a:avLst/>
          </a:prstGeom>
          <a:noFill/>
          <a:ln w="25400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9601200" y="5623560"/>
            <a:ext cx="1097280" cy="914"/>
          </a:xfrm>
          <a:prstGeom prst="line">
            <a:avLst/>
          </a:prstGeom>
          <a:noFill/>
          <a:ln w="25400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406640" y="2468880"/>
            <a:ext cx="914" cy="1051560"/>
          </a:xfrm>
          <a:prstGeom prst="line">
            <a:avLst/>
          </a:prstGeom>
          <a:noFill/>
          <a:ln w="38100">
            <a:solidFill>
              <a:srgbClr val="C97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406640" y="3520440"/>
            <a:ext cx="914" cy="1051560"/>
          </a:xfrm>
          <a:prstGeom prst="line">
            <a:avLst/>
          </a:prstGeom>
          <a:noFill/>
          <a:ln w="25400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406640" y="4572000"/>
            <a:ext cx="914" cy="1051560"/>
          </a:xfrm>
          <a:prstGeom prst="line">
            <a:avLst/>
          </a:prstGeom>
          <a:noFill/>
          <a:ln w="25400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8503920" y="2468880"/>
            <a:ext cx="914" cy="1051560"/>
          </a:xfrm>
          <a:prstGeom prst="line">
            <a:avLst/>
          </a:prstGeom>
          <a:noFill/>
          <a:ln w="25400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503920" y="3520440"/>
            <a:ext cx="914" cy="1051560"/>
          </a:xfrm>
          <a:prstGeom prst="line">
            <a:avLst/>
          </a:prstGeom>
          <a:noFill/>
          <a:ln w="25400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8503920" y="4572000"/>
            <a:ext cx="914" cy="1051560"/>
          </a:xfrm>
          <a:prstGeom prst="line">
            <a:avLst/>
          </a:prstGeom>
          <a:noFill/>
          <a:ln w="25400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9601200" y="2468880"/>
            <a:ext cx="914" cy="1051560"/>
          </a:xfrm>
          <a:prstGeom prst="line">
            <a:avLst/>
          </a:prstGeom>
          <a:noFill/>
          <a:ln w="25400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9601200" y="3520440"/>
            <a:ext cx="914" cy="1051560"/>
          </a:xfrm>
          <a:prstGeom prst="line">
            <a:avLst/>
          </a:prstGeom>
          <a:noFill/>
          <a:ln w="25400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9601200" y="4572000"/>
            <a:ext cx="914" cy="1051560"/>
          </a:xfrm>
          <a:prstGeom prst="line">
            <a:avLst/>
          </a:prstGeom>
          <a:noFill/>
          <a:ln w="38100">
            <a:solidFill>
              <a:srgbClr val="C97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0698480" y="2468880"/>
            <a:ext cx="914" cy="1051560"/>
          </a:xfrm>
          <a:prstGeom prst="line">
            <a:avLst/>
          </a:prstGeom>
          <a:noFill/>
          <a:ln w="25400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10698480" y="3520440"/>
            <a:ext cx="914" cy="1051560"/>
          </a:xfrm>
          <a:prstGeom prst="line">
            <a:avLst/>
          </a:prstGeom>
          <a:noFill/>
          <a:ln w="38100">
            <a:solidFill>
              <a:srgbClr val="C97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0698480" y="4572000"/>
            <a:ext cx="914" cy="1051560"/>
          </a:xfrm>
          <a:prstGeom prst="line">
            <a:avLst/>
          </a:prstGeom>
          <a:noFill/>
          <a:ln w="25400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351776" y="2414016"/>
            <a:ext cx="109728" cy="10972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449056" y="2414016"/>
            <a:ext cx="109728" cy="10972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9546336" y="2414016"/>
            <a:ext cx="109728" cy="10972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10643616" y="2414016"/>
            <a:ext cx="109728" cy="10972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7351776" y="3465576"/>
            <a:ext cx="109728" cy="10972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8449056" y="3465576"/>
            <a:ext cx="109728" cy="10972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9546336" y="3465576"/>
            <a:ext cx="109728" cy="10972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10643616" y="3465576"/>
            <a:ext cx="109728" cy="10972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7351776" y="4517136"/>
            <a:ext cx="109728" cy="10972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8449056" y="4517136"/>
            <a:ext cx="109728" cy="10972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9546336" y="4517136"/>
            <a:ext cx="109728" cy="10972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10643616" y="4517136"/>
            <a:ext cx="109728" cy="10972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7351776" y="5568696"/>
            <a:ext cx="109728" cy="10972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8449056" y="5568696"/>
            <a:ext cx="109728" cy="10972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9546336" y="5568696"/>
            <a:ext cx="109728" cy="10972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10643616" y="5568696"/>
            <a:ext cx="109728" cy="10972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949440" y="5806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Heavy congestion    — Free flow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CSA0303 · DATA STRUCTURES CAPSTONE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2354580"/>
            <a:ext cx="640080" cy="64008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3545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0299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City as a Graph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2450592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intersections as nodes and roads as directed, weighted edges.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0" y="2354580"/>
            <a:ext cx="640080" cy="64008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92240" y="23545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0" y="20299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Real-World Traffic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0" y="2450592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edge weights dynamically using randomized congestion factors.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" y="4549140"/>
            <a:ext cx="640080" cy="64008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45491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22452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Fastest Route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45920" y="4645152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Dijkstra's Algorithm to find the optimal path in under 100ms.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92240" y="4549140"/>
            <a:ext cx="640080" cy="64008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92240" y="45491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0" y="422452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Real Constraints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0" y="4645152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road closures via infinite-weight edges and live re-routing.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CSA0303 · DATA STRUCTURES CAPSTONE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classroom and legacy navigation demos rely on static distance graphs — they find A shortest path, not necessarily the fastest one right now.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E9F1F6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D8E4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Edge Weights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are fixed at build time and never reflect current traffic.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3317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E9F1F6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11880" y="26060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D8E4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1188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11880" y="32918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Congestion Modeling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11880" y="38862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cannot account for time-of-day or incident-based slowdowns.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E9F1F6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46520" y="26060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D8E4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4652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32918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Recalculation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46520" y="38862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must be recomputed from scratch instead of updating live.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23317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E9F1F6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281160" y="26060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D8E4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2811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81160" y="32918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Failure Handling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281160" y="38862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roads or blocked routes are not gracefully modeled.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CSA0303 · DATA STRUCTURES CAPSTONE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graph-based navigation engine that models the city as a live, weighted directed graph — recalculating the fastest route as traffic changes.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0F4C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577340" y="278892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57734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Directed Graph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Intersections as nodes, roads as directed edges carrying distance &amp; speed.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246888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0F4C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411980" y="278892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41198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347472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Weight Updates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42062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weights change dynamically from simulated congestion factors.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46888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0F4C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246620" y="278892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24662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47472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Dijkstra-Powered Routing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42062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the optimal path under current conditions in &lt;100ms.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52560" y="246888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0F4C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0081260" y="278892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08126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35440" y="347472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to Closures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35440" y="42062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roads become infinite-weight edges and are routed around.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F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CSA0303 · DATA STRUCTURES CAPSTONE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Representation of the City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intersection is a vertex (node) in the graph.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road segment is a directed edge between two nodes.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edge carries a weight — a function of distance and speed limit.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 minimum of 50 nodes for a realistic city-scale map.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using an adjacency list for memory efficiency.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0" y="1600200"/>
            <a:ext cx="6126480" cy="4709160"/>
          </a:xfrm>
          <a:prstGeom prst="roundRect">
            <a:avLst>
              <a:gd name="adj" fmla="val 1748"/>
            </a:avLst>
          </a:prstGeom>
          <a:solidFill>
            <a:srgbClr val="E9F1F6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 flipV="1">
            <a:off x="6400800" y="2103120"/>
            <a:ext cx="2377440" cy="2743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70064" y="2121408"/>
            <a:ext cx="438912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70064" y="2121408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778240" y="2103120"/>
            <a:ext cx="1828800" cy="9144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473184" y="2441448"/>
            <a:ext cx="438912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473184" y="2441448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0" y="2377440"/>
            <a:ext cx="365760" cy="18288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364224" y="3172968"/>
            <a:ext cx="438912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64224" y="3172968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66560" y="4206240"/>
            <a:ext cx="2286000" cy="5486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690104" y="4361688"/>
            <a:ext cx="438912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690104" y="4361688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778240" y="2103120"/>
            <a:ext cx="274320" cy="26517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695944" y="3310128"/>
            <a:ext cx="438912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695944" y="3310128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052560" y="4754880"/>
            <a:ext cx="1828800" cy="6400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747504" y="4956048"/>
            <a:ext cx="438912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747504" y="4956048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607040" y="3017520"/>
            <a:ext cx="274320" cy="23774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0524744" y="4087368"/>
            <a:ext cx="438912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524744" y="4087368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72200" y="214884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1722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49640" y="187452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549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378440" y="278892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03784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37960" y="397764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5379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823960" y="452628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82396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652760" y="516636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065276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760720" y="59893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= Intersections   ·   Edges = Roads (weight = travel cost)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CSA0303 · DATA STRUCTURES CAPSTONE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16636" y="1737360"/>
            <a:ext cx="1691640" cy="35661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65276" y="22631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65276" y="22631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3796" y="3200400"/>
            <a:ext cx="1417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08276" y="3520440"/>
            <a:ext cx="201168" cy="914"/>
          </a:xfrm>
          <a:prstGeom prst="line">
            <a:avLst/>
          </a:prstGeom>
          <a:noFill/>
          <a:ln w="31750">
            <a:solidFill>
              <a:srgbClr val="C97F1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409444" y="1737360"/>
            <a:ext cx="1691640" cy="35661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958084" y="22631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958084" y="22631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546604" y="3200400"/>
            <a:ext cx="1417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01084" y="3520440"/>
            <a:ext cx="201168" cy="914"/>
          </a:xfrm>
          <a:prstGeom prst="line">
            <a:avLst/>
          </a:prstGeom>
          <a:noFill/>
          <a:ln w="31750">
            <a:solidFill>
              <a:srgbClr val="C97F1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302252" y="1737360"/>
            <a:ext cx="1691640" cy="35661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850892" y="22631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50892" y="22631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439412" y="3200400"/>
            <a:ext cx="1417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Simulation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93892" y="3520440"/>
            <a:ext cx="201168" cy="914"/>
          </a:xfrm>
          <a:prstGeom prst="line">
            <a:avLst/>
          </a:prstGeom>
          <a:noFill/>
          <a:ln w="31750">
            <a:solidFill>
              <a:srgbClr val="C97F1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195060" y="1737360"/>
            <a:ext cx="1691640" cy="35661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743700" y="22631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743700" y="22631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32220" y="3200400"/>
            <a:ext cx="1417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Updater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886700" y="3520440"/>
            <a:ext cx="201168" cy="914"/>
          </a:xfrm>
          <a:prstGeom prst="line">
            <a:avLst/>
          </a:prstGeom>
          <a:noFill/>
          <a:ln w="31750">
            <a:solidFill>
              <a:srgbClr val="C97F1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087868" y="1737360"/>
            <a:ext cx="1691640" cy="3566160"/>
          </a:xfrm>
          <a:prstGeom prst="roundRect">
            <a:avLst>
              <a:gd name="adj" fmla="val 4865"/>
            </a:avLst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636508" y="2263140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636508" y="22631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225028" y="3200400"/>
            <a:ext cx="1417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Engine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779508" y="3520440"/>
            <a:ext cx="201168" cy="914"/>
          </a:xfrm>
          <a:prstGeom prst="line">
            <a:avLst/>
          </a:prstGeom>
          <a:noFill/>
          <a:ln w="31750">
            <a:solidFill>
              <a:srgbClr val="C97F1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980676" y="1737360"/>
            <a:ext cx="1691640" cy="35661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0529316" y="22631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0529316" y="22631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117836" y="3200400"/>
            <a:ext cx="1417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Route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right: user input drives graph and traffic state, which the optimization engine consumes to produce the output route.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CSA0303 · DATA STRUCTURES CAPSTONE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Representation &amp; Graph Construction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1005840"/>
          </a:xfrm>
          <a:prstGeom prst="roundRect">
            <a:avLst>
              <a:gd name="adj" fmla="val 8182"/>
            </a:avLst>
          </a:prstGeom>
          <a:solidFill>
            <a:srgbClr val="E9F1F6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city intersections as graph nodes and roads as directed, weighted edges.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PARAMETERS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at least 50 nodes across the modeled city.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edge stores distance and speed limit.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mapped for spatial accuracy.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52360" y="1691640"/>
            <a:ext cx="4160520" cy="1965960"/>
          </a:xfrm>
          <a:prstGeom prst="roundRect">
            <a:avLst>
              <a:gd name="adj" fmla="val 4186"/>
            </a:avLst>
          </a:prstGeom>
          <a:solidFill>
            <a:srgbClr val="0B3D5C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68096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80960" y="219456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memory-efficient adjacency list implementation of the full road network.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5236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52360" y="4279392"/>
            <a:ext cx="4160520" cy="457200"/>
          </a:xfrm>
          <a:prstGeom prst="roundRect">
            <a:avLst>
              <a:gd name="adj" fmla="val 18000"/>
            </a:avLst>
          </a:prstGeom>
          <a:solidFill>
            <a:srgbClr val="E9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635240" y="42793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52360" y="4846320"/>
            <a:ext cx="4160520" cy="457200"/>
          </a:xfrm>
          <a:prstGeom prst="roundRect">
            <a:avLst>
              <a:gd name="adj" fmla="val 18000"/>
            </a:avLst>
          </a:prstGeom>
          <a:solidFill>
            <a:srgbClr val="E9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635240" y="4846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52360" y="5413248"/>
            <a:ext cx="4160520" cy="457200"/>
          </a:xfrm>
          <a:prstGeom prst="roundRect">
            <a:avLst>
              <a:gd name="adj" fmla="val 18000"/>
            </a:avLst>
          </a:prstGeom>
          <a:solidFill>
            <a:srgbClr val="E9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635240" y="5413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Mapping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CSA0303 · DATA STRUCTURES CAPSTONE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Traffic Simulation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1005840"/>
          </a:xfrm>
          <a:prstGeom prst="roundRect">
            <a:avLst>
              <a:gd name="adj" fmla="val 8182"/>
            </a:avLst>
          </a:prstGeom>
          <a:solidFill>
            <a:srgbClr val="E9F1F6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changing traffic conditions by continuously updating edge weights.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PARAMETERS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= (Distance / Speed) × Traffic Factor.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Factor drawn from realistic randomized congestion values.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refresh on a live simulation loop.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52360" y="1691640"/>
            <a:ext cx="4160520" cy="1965960"/>
          </a:xfrm>
          <a:prstGeom prst="roundRect">
            <a:avLst>
              <a:gd name="adj" fmla="val 4186"/>
            </a:avLst>
          </a:prstGeom>
          <a:solidFill>
            <a:srgbClr val="0B3D5C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68096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80960" y="219456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graph whose edge weights shift over time, mirroring real congestion patterns.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5236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52360" y="4279392"/>
            <a:ext cx="4160520" cy="457200"/>
          </a:xfrm>
          <a:prstGeom prst="roundRect">
            <a:avLst>
              <a:gd name="adj" fmla="val 18000"/>
            </a:avLst>
          </a:prstGeom>
          <a:solidFill>
            <a:srgbClr val="E9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635240" y="42793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52360" y="4846320"/>
            <a:ext cx="4160520" cy="457200"/>
          </a:xfrm>
          <a:prstGeom prst="roundRect">
            <a:avLst>
              <a:gd name="adj" fmla="val 18000"/>
            </a:avLst>
          </a:prstGeom>
          <a:solidFill>
            <a:srgbClr val="E9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635240" y="4846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Simulation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CSA0303 · DATA STRUCTURES CAPSTONE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Optimization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1005840"/>
          </a:xfrm>
          <a:prstGeom prst="roundRect">
            <a:avLst>
              <a:gd name="adj" fmla="val 8182"/>
            </a:avLst>
          </a:prstGeom>
          <a:solidFill>
            <a:srgbClr val="E9F1F6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shortest travel-time path between a source and destination.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PARAMETERS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calculation completes in under 100 milliseconds.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closures modeled as infinite-weight edges.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full route from source to destination.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52360" y="1691640"/>
            <a:ext cx="4160520" cy="1965960"/>
          </a:xfrm>
          <a:prstGeom prst="roundRect">
            <a:avLst>
              <a:gd name="adj" fmla="val 4186"/>
            </a:avLst>
          </a:prstGeom>
          <a:solidFill>
            <a:srgbClr val="0B3D5C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68096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80960" y="219456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ordered list of nodes forming the fastest route, with estimated travel time.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5236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52360" y="4279392"/>
            <a:ext cx="4160520" cy="457200"/>
          </a:xfrm>
          <a:prstGeom prst="roundRect">
            <a:avLst>
              <a:gd name="adj" fmla="val 18000"/>
            </a:avLst>
          </a:prstGeom>
          <a:solidFill>
            <a:srgbClr val="E9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635240" y="42793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52360" y="4846320"/>
            <a:ext cx="4160520" cy="457200"/>
          </a:xfrm>
          <a:prstGeom prst="roundRect">
            <a:avLst>
              <a:gd name="adj" fmla="val 18000"/>
            </a:avLst>
          </a:prstGeom>
          <a:solidFill>
            <a:srgbClr val="E9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635240" y="4846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Search (future enhancement)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52360" y="5413248"/>
            <a:ext cx="4160520" cy="457200"/>
          </a:xfrm>
          <a:prstGeom prst="roundRect">
            <a:avLst>
              <a:gd name="adj" fmla="val 18000"/>
            </a:avLst>
          </a:prstGeom>
          <a:solidFill>
            <a:srgbClr val="E9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635240" y="5413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Heuristics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CSA0303 · DATA STRUCTURES CAPSTONE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54480" y="19888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554480" y="19888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9443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city network of intersections and roads.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9272" y="173736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325112" y="19888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25112" y="19888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56432" y="2606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Graph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56432" y="29443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have direction — one-way travel cost per edge.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9904" y="173736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095744" y="19888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095744" y="19888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27064" y="2606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Graph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27064" y="29443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edge carries a travel-cost weight.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60536" y="173736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866376" y="19888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866376" y="19888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97696" y="2606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97696" y="29443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Compact, memory-efficient neighbor storage per node.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730752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554480" y="39822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554480" y="39822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45994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(Min-Heap)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" y="49377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Dijkstra's efficient next-node selection.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19272" y="3730752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325112" y="39822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325112" y="39822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456432" y="45994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456432" y="49377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traversal and simulation event ordering.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89904" y="3730752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095744" y="39822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095744" y="39822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27064" y="45994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227064" y="49377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Backing storage for node and edge collections.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860536" y="3730752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9866376" y="39822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9866376" y="39822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997696" y="45994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(C)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997696" y="49377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node/edge fields into single records.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CSA0303 · DATA STRUCTURES CAPSTONE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Dijkstra's Algorithm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577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 set of shortest distances from the source node.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selects the unvisited node with the smallest known distance (via a min-heap).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Relaxes all outgoing edges — updating neighbor distances if a shorter path is found.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Terminates once the destination is finalized or all nodes are visited.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4251960"/>
            <a:ext cx="2697480" cy="1005840"/>
          </a:xfrm>
          <a:prstGeom prst="roundRect">
            <a:avLst>
              <a:gd name="adj" fmla="val 8182"/>
            </a:avLst>
          </a:prstGeom>
          <a:solidFill>
            <a:srgbClr val="0B3D5C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437083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O((V + E) log V)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48463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4251960"/>
            <a:ext cx="2697480" cy="1005840"/>
          </a:xfrm>
          <a:prstGeom prst="roundRect">
            <a:avLst>
              <a:gd name="adj" fmla="val 8182"/>
            </a:avLst>
          </a:prstGeom>
          <a:solidFill>
            <a:srgbClr val="0B3D5C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74720" y="437083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O(V + E)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474720" y="48463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440680"/>
            <a:ext cx="5577840" cy="960120"/>
          </a:xfrm>
          <a:prstGeom prst="roundRect">
            <a:avLst>
              <a:gd name="adj" fmla="val 8571"/>
            </a:avLst>
          </a:prstGeom>
          <a:solidFill>
            <a:srgbClr val="E9F1F6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544068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non-negative edge weights — a perfect fit since travel-time weights are always positive.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46520" y="1645920"/>
            <a:ext cx="5166360" cy="2286000"/>
          </a:xfrm>
          <a:prstGeom prst="roundRect">
            <a:avLst>
              <a:gd name="adj" fmla="val 3600"/>
            </a:avLst>
          </a:prstGeom>
          <a:solidFill>
            <a:srgbClr val="E9F1F6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67512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2148840"/>
            <a:ext cx="4663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the optimal shortest path.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with a priority-queue implementation.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Well-suited to non-negative weighted graphs.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4114800"/>
            <a:ext cx="5166360" cy="2286000"/>
          </a:xfrm>
          <a:prstGeom prst="roundRect">
            <a:avLst>
              <a:gd name="adj" fmla="val 3600"/>
            </a:avLst>
          </a:prstGeom>
          <a:solidFill>
            <a:srgbClr val="F3E4D0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67512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4617720"/>
            <a:ext cx="4663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handle negative edge weights.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Recomputes from scratch on major graph changes.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heuristic-guided search on very large maps.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CSA0303 · DATA STRUCTURES CAPSTONE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0060" y="2560320"/>
            <a:ext cx="1463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76200" dist="254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53212" y="2560320"/>
            <a:ext cx="13167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43100" y="3086100"/>
            <a:ext cx="164592" cy="91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107692" y="2560320"/>
            <a:ext cx="1463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76200" dist="254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180844" y="2560320"/>
            <a:ext cx="13167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0732" y="3086100"/>
            <a:ext cx="164592" cy="91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735324" y="2560320"/>
            <a:ext cx="1463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76200" dist="254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808476" y="2560320"/>
            <a:ext cx="13167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Updates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98364" y="3086100"/>
            <a:ext cx="164592" cy="91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362956" y="2560320"/>
            <a:ext cx="1463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76200" dist="254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36108" y="2560320"/>
            <a:ext cx="13167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Weight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25996" y="3086100"/>
            <a:ext cx="164592" cy="91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990588" y="2560320"/>
            <a:ext cx="1463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76200" dist="254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063740" y="2560320"/>
            <a:ext cx="13167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Dijkstra's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53628" y="3086100"/>
            <a:ext cx="164592" cy="91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618220" y="2560320"/>
            <a:ext cx="1463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76200" dist="254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691372" y="2560320"/>
            <a:ext cx="13167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81260" y="3086100"/>
            <a:ext cx="164592" cy="91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0245852" y="2560320"/>
            <a:ext cx="1463040" cy="1051560"/>
          </a:xfrm>
          <a:prstGeom prst="roundRect">
            <a:avLst>
              <a:gd name="adj" fmla="val 8696"/>
            </a:avLst>
          </a:prstGeom>
          <a:solidFill>
            <a:srgbClr val="F2A541"/>
          </a:solidFill>
          <a:ln w="12700">
            <a:solidFill>
              <a:srgbClr val="C97F1E"/>
            </a:solidFill>
            <a:prstDash val="solid"/>
          </a:ln>
          <a:effectLst>
            <a:outerShdw blurRad="76200" dist="254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319004" y="2560320"/>
            <a:ext cx="13167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Compare — Dijkstra vs A*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64240" cy="17373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 (Future)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724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Guarantee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724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shortest path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724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Exact, if heuristic admissible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724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724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724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a distance heuristic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724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724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on large graphs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724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with good heuristic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CSA0303 · DATA STRUCTURES CAPSTONE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Graph Example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92240" cy="4617720"/>
          </a:xfrm>
          <a:prstGeom prst="roundRect">
            <a:avLst>
              <a:gd name="adj" fmla="val 1782"/>
            </a:avLst>
          </a:prstGeom>
          <a:solidFill>
            <a:srgbClr val="E9F1F6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 flipV="1">
            <a:off x="1280160" y="2103120"/>
            <a:ext cx="1645920" cy="274320"/>
          </a:xfrm>
          <a:prstGeom prst="line">
            <a:avLst/>
          </a:prstGeom>
          <a:noFill/>
          <a:ln w="22225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901952" y="2121408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901952" y="2121408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0" y="2103120"/>
            <a:ext cx="1828800" cy="274320"/>
          </a:xfrm>
          <a:prstGeom prst="line">
            <a:avLst/>
          </a:prstGeom>
          <a:noFill/>
          <a:ln w="22225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39312" y="2121408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39312" y="2121408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80160" y="2377440"/>
            <a:ext cx="822960" cy="1554480"/>
          </a:xfrm>
          <a:prstGeom prst="line">
            <a:avLst/>
          </a:prstGeom>
          <a:noFill/>
          <a:ln w="44450">
            <a:solidFill>
              <a:srgbClr val="C97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490472" y="3035808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490472" y="3035808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 flipV="1">
            <a:off x="2103120" y="2103120"/>
            <a:ext cx="822960" cy="1828800"/>
          </a:xfrm>
          <a:prstGeom prst="line">
            <a:avLst/>
          </a:prstGeom>
          <a:noFill/>
          <a:ln w="44450">
            <a:solidFill>
              <a:srgbClr val="C97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313432" y="2898648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313432" y="2898648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26080" y="2103120"/>
            <a:ext cx="1005840" cy="2103120"/>
          </a:xfrm>
          <a:prstGeom prst="line">
            <a:avLst/>
          </a:prstGeom>
          <a:noFill/>
          <a:ln w="44450">
            <a:solidFill>
              <a:srgbClr val="C97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27832" y="3035808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27832" y="3035808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flipV="1">
            <a:off x="3931920" y="2377440"/>
            <a:ext cx="822960" cy="1828800"/>
          </a:xfrm>
          <a:prstGeom prst="line">
            <a:avLst/>
          </a:prstGeom>
          <a:noFill/>
          <a:ln w="22225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42232" y="3172968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42232" y="3172968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03120" y="3931920"/>
            <a:ext cx="822960" cy="1645920"/>
          </a:xfrm>
          <a:prstGeom prst="line">
            <a:avLst/>
          </a:prstGeom>
          <a:noFill/>
          <a:ln w="22225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313432" y="4636008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313432" y="4636008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 flipV="1">
            <a:off x="2926080" y="4206240"/>
            <a:ext cx="1005840" cy="1371600"/>
          </a:xfrm>
          <a:prstGeom prst="line">
            <a:avLst/>
          </a:prstGeom>
          <a:noFill/>
          <a:ln w="22225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227832" y="4773168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27832" y="4773168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 flipV="1">
            <a:off x="3931920" y="3840480"/>
            <a:ext cx="1828800" cy="365760"/>
          </a:xfrm>
          <a:prstGeom prst="line">
            <a:avLst/>
          </a:prstGeom>
          <a:noFill/>
          <a:ln w="44450">
            <a:solidFill>
              <a:srgbClr val="C97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45152" y="3904488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45152" y="3904488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377440"/>
            <a:ext cx="1005840" cy="1463040"/>
          </a:xfrm>
          <a:prstGeom prst="line">
            <a:avLst/>
          </a:prstGeom>
          <a:noFill/>
          <a:ln w="22225">
            <a:solidFill>
              <a:srgbClr val="B9CC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056632" y="2990088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056632" y="2990088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60704" y="2157984"/>
            <a:ext cx="438912" cy="438912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060704" y="21579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06624" y="1883664"/>
            <a:ext cx="438912" cy="438912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706624" y="18836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35424" y="2157984"/>
            <a:ext cx="438912" cy="438912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535424" y="21579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883664" y="3712464"/>
            <a:ext cx="438912" cy="438912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883664" y="37124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712464" y="3986784"/>
            <a:ext cx="438912" cy="438912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712464" y="39867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541264" y="3621024"/>
            <a:ext cx="438912" cy="438912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541264" y="36210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706624" y="5358384"/>
            <a:ext cx="438912" cy="438912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706624" y="53583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77240" y="59893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path shows one possible fastest route given current weights.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315200" y="1691640"/>
            <a:ext cx="4297680" cy="4617720"/>
          </a:xfrm>
          <a:prstGeom prst="roundRect">
            <a:avLst>
              <a:gd name="adj" fmla="val 1915"/>
            </a:avLst>
          </a:prstGeom>
          <a:solidFill>
            <a:srgbClr val="0B3D5C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5895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ROUTE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589520" y="233172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→ D → B → E → F</a:t>
            </a:r>
            <a:endParaRPr lang="en-US" sz="2100" dirty="0"/>
          </a:p>
        </p:txBody>
      </p:sp>
      <p:sp>
        <p:nvSpPr>
          <p:cNvPr id="53" name="Text 51"/>
          <p:cNvSpPr/>
          <p:nvPr/>
        </p:nvSpPr>
        <p:spPr>
          <a:xfrm>
            <a:off x="758952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Distance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784080" y="32004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 km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589520" y="3675888"/>
            <a:ext cx="3794760" cy="0"/>
          </a:xfrm>
          <a:prstGeom prst="line">
            <a:avLst/>
          </a:prstGeom>
          <a:noFill/>
          <a:ln w="9525">
            <a:solidFill>
              <a:srgbClr val="175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7589520" y="37673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Travel Time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784080" y="376732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 min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7589520" y="4242816"/>
            <a:ext cx="3794760" cy="0"/>
          </a:xfrm>
          <a:prstGeom prst="line">
            <a:avLst/>
          </a:prstGeom>
          <a:noFill/>
          <a:ln w="9525">
            <a:solidFill>
              <a:srgbClr val="175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589520" y="433425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Visited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9784080" y="433425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589520" y="4809744"/>
            <a:ext cx="3794760" cy="0"/>
          </a:xfrm>
          <a:prstGeom prst="line">
            <a:avLst/>
          </a:prstGeom>
          <a:noFill/>
          <a:ln w="9525">
            <a:solidFill>
              <a:srgbClr val="175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589520" y="49011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Time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9784080" y="490118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ms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CSA0303 · DATA STRUCTURES CAPSTONE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Output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source and destination, the system returns an ordered node path with distance and time — under real-time performance constraints.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0B3D5C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→ B → D → 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703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Route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23774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520440" y="26974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 km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3703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Distance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55080" y="26974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 min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55080" y="3703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52560" y="23774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89720" y="26974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100 ms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89720" y="3703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Time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CONSOLE OUTPUT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724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A   Destination: F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724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Shortest Path: A -&gt; B -&gt; D -&gt; F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724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Distance: 7.2 km   |   ETA: 12.5 min   |   Runtime: 63 ms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CSA0303 · DATA STRUCTURES CAPSTONE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Route Calculation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Sub-100ms path computation for responsive navigation.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53712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53712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53712" y="26517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Traffic Updates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53712" y="3063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weights reflect live, changing conditions.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30184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30184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0184" y="26517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Memory Usage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30184" y="3063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lists scale gracefully with city size.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59352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77240" y="418795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7240" y="4187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87375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Scale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52852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extends cleanly to larger, denser road networks.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25112" y="3959352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53712" y="418795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53712" y="4187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53712" y="487375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53712" y="52852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how production navigation systems are built.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01584" y="3959352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30184" y="418795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330184" y="4187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30184" y="487375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Optimization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30184" y="52852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proven, well-understood algorithms.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CSA0303 · DATA STRUCTURES CAPSTONE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9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8089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64767" y="2304288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564767" y="2304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39801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5566" y="2011680"/>
            <a:ext cx="258089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401693" y="23042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01693" y="2304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7006" y="3108960"/>
            <a:ext cx="239801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Navigation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22492" y="2011680"/>
            <a:ext cx="258089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238619" y="2304288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238619" y="2304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13932" y="3108960"/>
            <a:ext cx="239801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Systems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59418" y="2011680"/>
            <a:ext cx="258089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0075545" y="23042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075545" y="2304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50858" y="3108960"/>
            <a:ext cx="239801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133088"/>
            <a:ext cx="258089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564767" y="4425696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564767" y="44256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5230368"/>
            <a:ext cx="239801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Routing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385566" y="4133088"/>
            <a:ext cx="258089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401693" y="442569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401693" y="44256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77006" y="5230368"/>
            <a:ext cx="239801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22492" y="4133088"/>
            <a:ext cx="258089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238619" y="4425696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238619" y="44256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13932" y="5230368"/>
            <a:ext cx="239801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Sharing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CSA0303 · DATA STRUCTURES CAPSTONE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80136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Integration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5349240" cy="0"/>
          </a:xfrm>
          <a:prstGeom prst="line">
            <a:avLst/>
          </a:prstGeom>
          <a:noFill/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85292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5349240" cy="0"/>
          </a:xfrm>
          <a:prstGeom prst="line">
            <a:avLst/>
          </a:prstGeom>
          <a:noFill/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90448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Traffic Prediction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5349240" cy="0"/>
          </a:xfrm>
          <a:prstGeom prst="line">
            <a:avLst/>
          </a:prstGeom>
          <a:noFill/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95604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Route Optimization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17920" y="1783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179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0" y="180136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Detection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217920" y="2560320"/>
            <a:ext cx="5349240" cy="0"/>
          </a:xfrm>
          <a:prstGeom prst="line">
            <a:avLst/>
          </a:prstGeom>
          <a:noFill/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217920" y="2834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179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0" y="285292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Weather-Based Routing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217920" y="3611880"/>
            <a:ext cx="5349240" cy="0"/>
          </a:xfrm>
          <a:prstGeom prst="line">
            <a:avLst/>
          </a:prstGeom>
          <a:noFill/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217920" y="3886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1792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58000" y="390448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217920" y="4663440"/>
            <a:ext cx="5349240" cy="0"/>
          </a:xfrm>
          <a:prstGeom prst="line">
            <a:avLst/>
          </a:prstGeom>
          <a:noFill/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217920" y="4937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21792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58000" y="495604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Navigation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CSA0303 · DATA STRUCTURES CAPSTONE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607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efficiently model complex road networks at city scale.</a:t>
            </a:r>
            <a:endParaRPr lang="en-US" sz="1800" dirty="0"/>
          </a:p>
          <a:p>
            <a:pPr marL="177800" indent="-177800">
              <a:lnSpc>
                <a:spcPct val="108000"/>
              </a:lnSpc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edge weights realistically simulate changing traffic.</a:t>
            </a:r>
            <a:endParaRPr lang="en-US" sz="1800" dirty="0"/>
          </a:p>
          <a:p>
            <a:pPr marL="177800" indent="-177800">
              <a:lnSpc>
                <a:spcPct val="108000"/>
              </a:lnSpc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reliably provides the optimal route.</a:t>
            </a:r>
            <a:endParaRPr lang="en-US" sz="1800" dirty="0"/>
          </a:p>
          <a:p>
            <a:pPr marL="177800" indent="-177800">
              <a:lnSpc>
                <a:spcPct val="108000"/>
              </a:lnSpc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a practical, real-world application of core Data Structures concepts.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074920"/>
            <a:ext cx="2926080" cy="0"/>
          </a:xfrm>
          <a:prstGeom prst="line">
            <a:avLst/>
          </a:prstGeom>
          <a:noFill/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5257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B7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nodes and edges to real-time navigation.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F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CSA0303 · DATA STRUCTURES CAPSTONE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E9F1F6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Cormen, T. H. et al. — Introduction to Algorithms.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E9F1F6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6974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Thareja, R. — Data Structures using C.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E9F1F6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361188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6118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Dijkstra, E. W. (1959) — A Note on Two Problems in Connexion with Graphs.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E9F1F6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452628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5262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theory foundational references on directed and weighted graphs.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E9F1F6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544068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54406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 on intelligent transportation systems and dynamic routing.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CSA0303 · DATA STRUCTURES CAPSTONE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097280"/>
            <a:ext cx="82296" cy="82296"/>
          </a:xfrm>
          <a:prstGeom prst="ellipse">
            <a:avLst/>
          </a:prstGeom>
          <a:solidFill>
            <a:srgbClr val="1754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377440" y="640080"/>
            <a:ext cx="82296" cy="82296"/>
          </a:xfrm>
          <a:prstGeom prst="ellipse">
            <a:avLst/>
          </a:prstGeom>
          <a:solidFill>
            <a:srgbClr val="1754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881360" y="5120640"/>
            <a:ext cx="82296" cy="82296"/>
          </a:xfrm>
          <a:prstGeom prst="ellipse">
            <a:avLst/>
          </a:prstGeom>
          <a:solidFill>
            <a:srgbClr val="1754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692640" y="5852160"/>
            <a:ext cx="82296" cy="82296"/>
          </a:xfrm>
          <a:prstGeom prst="ellipse">
            <a:avLst/>
          </a:prstGeom>
          <a:solidFill>
            <a:srgbClr val="1754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521440" y="6035040"/>
            <a:ext cx="82296" cy="82296"/>
          </a:xfrm>
          <a:prstGeom prst="ellipse">
            <a:avLst/>
          </a:prstGeom>
          <a:solidFill>
            <a:srgbClr val="1754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5943600"/>
            <a:ext cx="82296" cy="82296"/>
          </a:xfrm>
          <a:prstGeom prst="ellipse">
            <a:avLst/>
          </a:prstGeom>
          <a:solidFill>
            <a:srgbClr val="1754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011680" y="6217920"/>
            <a:ext cx="82296" cy="82296"/>
          </a:xfrm>
          <a:prstGeom prst="ellipse">
            <a:avLst/>
          </a:prstGeom>
          <a:solidFill>
            <a:srgbClr val="1754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Navigation and Route Optimization System using Graph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886200"/>
            <a:ext cx="2743200" cy="0"/>
          </a:xfrm>
          <a:prstGeom prst="line">
            <a:avLst/>
          </a:prstGeom>
          <a:noFill/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sk.akhil ahammed  ·  ch.akhil  ·  Md Asfar Ali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8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CSA0303 · Data Structures Capstone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1561</Words>
  <Application>Microsoft Office PowerPoint</Application>
  <PresentationFormat>Widescreen</PresentationFormat>
  <Paragraphs>401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APEX PREDATOR</cp:lastModifiedBy>
  <cp:revision>3</cp:revision>
  <dcterms:created xsi:type="dcterms:W3CDTF">2026-08-04T05:42:50Z</dcterms:created>
  <dcterms:modified xsi:type="dcterms:W3CDTF">2026-08-04T05:45:36Z</dcterms:modified>
</cp:coreProperties>
</file>