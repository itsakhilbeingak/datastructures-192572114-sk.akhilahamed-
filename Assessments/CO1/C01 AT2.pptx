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472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515600" y="4480560"/>
            <a:ext cx="1188720" cy="11887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CSA 0303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5669280" cy="1234440"/>
          </a:xfrm>
          <a:prstGeom prst="roundRect">
            <a:avLst>
              <a:gd name="adj" fmla="val 5926"/>
            </a:avLst>
          </a:prstGeom>
          <a:solidFill>
            <a:srgbClr val="1F4A85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97280" y="501091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Presented by
</a:t>
            </a:r>
            <a:endParaRPr lang="en-US" sz="11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SK. Akhil Ahammed</a:t>
            </a:r>
            <a:endParaRPr lang="en-US" sz="11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Register No: 192572114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Streaming Playlist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apps must let users add, remove, and reorder songs in a playlist instantly, while playing.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 change constantly — a static structure will not scale to real usage.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data structure directly affects app speed and user experience.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73075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86384" y="364845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Right Structure Matters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AF2FB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playlist needs frequent, fast:
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insertions, deletions and reordering —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simple storage.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39903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01384" y="131673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 Required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02920" cy="50292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63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67728" y="1773936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67728" y="204825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new track anywhere in the playlist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880360"/>
            <a:ext cx="502920" cy="50292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63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67728" y="2825496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Song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67728" y="309981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track the user no longer wants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02920" cy="50292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63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67728" y="3877056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Songs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67728" y="415137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tracks up/down without shifting all data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983480"/>
            <a:ext cx="502920" cy="50292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636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67728" y="4928616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Playlist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67728" y="520293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songs sequentially, next or previous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0303  |  Data Structures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DOUBLY LINKED 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Data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each song is stored in a node containing song data, a Previous pointer, and a Next pointer.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nodes are linked in both directions, forming a chain that can be walked forward or backward.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pointer: links to the prior song for instant backward navigation.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pointer: links to the following song for forward navigation.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 allocation: nodes are created/destroyed at runtime — no fixed size limit.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80760" y="139903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18504" y="1316736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 — Structure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89320" y="1783080"/>
            <a:ext cx="5669280" cy="3931920"/>
          </a:xfrm>
          <a:prstGeom prst="roundRect">
            <a:avLst>
              <a:gd name="adj" fmla="val 1860"/>
            </a:avLst>
          </a:prstGeom>
          <a:solidFill>
            <a:srgbClr val="EAF2FB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263640" y="3063240"/>
            <a:ext cx="685800" cy="777240"/>
          </a:xfrm>
          <a:prstGeom prst="roundRect">
            <a:avLst>
              <a:gd name="adj" fmla="val 8000"/>
            </a:avLst>
          </a:prstGeom>
          <a:solidFill>
            <a:srgbClr val="D9E2EC"/>
          </a:solidFill>
          <a:ln w="12700">
            <a:solidFill>
              <a:srgbClr val="6B7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63640" y="306324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29400" y="306324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040880" y="3063240"/>
            <a:ext cx="914" cy="777240"/>
          </a:xfrm>
          <a:prstGeom prst="line">
            <a:avLst/>
          </a:prstGeom>
          <a:noFill/>
          <a:ln w="9525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52360" y="3063240"/>
            <a:ext cx="914" cy="777240"/>
          </a:xfrm>
          <a:prstGeom prst="line">
            <a:avLst/>
          </a:prstGeom>
          <a:noFill/>
          <a:ln w="9525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629400" y="3063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52360" y="3063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29400" y="33558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92440" y="306324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503920" y="3063240"/>
            <a:ext cx="914" cy="777240"/>
          </a:xfrm>
          <a:prstGeom prst="line">
            <a:avLst/>
          </a:prstGeom>
          <a:noFill/>
          <a:ln w="9525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915400" y="3063240"/>
            <a:ext cx="914" cy="777240"/>
          </a:xfrm>
          <a:prstGeom prst="line">
            <a:avLst/>
          </a:prstGeom>
          <a:noFill/>
          <a:ln w="9525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092440" y="3063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915400" y="3063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92440" y="33558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55480" y="306324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966960" y="3063240"/>
            <a:ext cx="914" cy="777240"/>
          </a:xfrm>
          <a:prstGeom prst="line">
            <a:avLst/>
          </a:prstGeom>
          <a:noFill/>
          <a:ln w="9525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378440" y="3063240"/>
            <a:ext cx="914" cy="777240"/>
          </a:xfrm>
          <a:prstGeom prst="line">
            <a:avLst/>
          </a:prstGeom>
          <a:noFill/>
          <a:ln w="9525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555480" y="3063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378440" y="3063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555480" y="33558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881360" y="3063240"/>
            <a:ext cx="685800" cy="777240"/>
          </a:xfrm>
          <a:prstGeom prst="roundRect">
            <a:avLst>
              <a:gd name="adj" fmla="val 8000"/>
            </a:avLst>
          </a:prstGeom>
          <a:solidFill>
            <a:srgbClr val="D9E2EC"/>
          </a:solidFill>
          <a:ln w="12700">
            <a:solidFill>
              <a:srgbClr val="6B7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881360" y="306324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11112" y="3227832"/>
            <a:ext cx="356616" cy="9144"/>
          </a:xfrm>
          <a:prstGeom prst="line">
            <a:avLst/>
          </a:prstGeom>
          <a:noFill/>
          <a:ln w="22225">
            <a:solidFill>
              <a:srgbClr val="2E86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882128" y="3227832"/>
            <a:ext cx="192024" cy="9144"/>
          </a:xfrm>
          <a:prstGeom prst="line">
            <a:avLst/>
          </a:prstGeom>
          <a:noFill/>
          <a:ln w="22225">
            <a:solidFill>
              <a:srgbClr val="2E86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345168" y="3227832"/>
            <a:ext cx="192024" cy="9144"/>
          </a:xfrm>
          <a:prstGeom prst="line">
            <a:avLst/>
          </a:prstGeom>
          <a:noFill/>
          <a:ln w="22225">
            <a:solidFill>
              <a:srgbClr val="2E86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0808208" y="3227832"/>
            <a:ext cx="54864" cy="9144"/>
          </a:xfrm>
          <a:prstGeom prst="line">
            <a:avLst/>
          </a:prstGeom>
          <a:noFill/>
          <a:ln w="22225">
            <a:solidFill>
              <a:srgbClr val="2E86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611112" y="3685032"/>
            <a:ext cx="356616" cy="9144"/>
          </a:xfrm>
          <a:prstGeom prst="line">
            <a:avLst/>
          </a:prstGeom>
          <a:noFill/>
          <a:ln w="22225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882128" y="3685032"/>
            <a:ext cx="192024" cy="9144"/>
          </a:xfrm>
          <a:prstGeom prst="line">
            <a:avLst/>
          </a:prstGeom>
          <a:noFill/>
          <a:ln w="22225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345168" y="3685032"/>
            <a:ext cx="192024" cy="9144"/>
          </a:xfrm>
          <a:prstGeom prst="line">
            <a:avLst/>
          </a:prstGeom>
          <a:noFill/>
          <a:ln w="22225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10808208" y="3685032"/>
            <a:ext cx="54864" cy="9144"/>
          </a:xfrm>
          <a:prstGeom prst="line">
            <a:avLst/>
          </a:prstGeom>
          <a:noFill/>
          <a:ln w="22225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315200" y="2770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0" y="38953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63640" y="45720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links forward and backward — enabling O(1) insert/delete at any known position.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0303  |  Data Structures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PLAYLIST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and Working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86384" y="1316736"/>
            <a:ext cx="6437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Operation 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6733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Song: 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node, relink neighboring Prev/Next pointers to include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Song: 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the node by joining its Previous and Next neighbors directly.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62656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280720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Song: 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Unlink the node, then relink it at the new position — no shifting needed.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337413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Song: 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Next pointer of the current node.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394106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Song: 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Previous pointer of the current node.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52360" y="139903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690104" y="131673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1783080"/>
          <a:ext cx="4206240" cy="1920240"/>
        </p:xfrm>
        <a:graphic>
          <a:graphicData uri="http://schemas.openxmlformats.org/drawingml/2006/table">
            <a:tbl>
              <a:tblPr/>
              <a:tblGrid>
                <a:gridCol w="260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Time Complexity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Insertion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Deletion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Traversal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Reordering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452360" y="406908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EAF2FB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680960" y="425196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&amp; deletion are O(1)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only nearby pointers change — no shifting of other songs.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is O(n) </a:t>
            </a: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songs must be visited one after another.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0303  |  Data Structures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STRUCTURE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and Comparison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40156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Array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Singly Linked List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Doubly Linked List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Insertion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O(n) shift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O(1) at head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O(1) any known node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Deletion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O(n) shift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O(n) find prev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O(1) direct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Memory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Fixed / resized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Dynamic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Dynamic (extra pointer)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Reordering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Costly shifting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Forward-only, slow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Fast, both directions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Traversal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O(1) random access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Forward only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Forward &amp; backward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3B6F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3"/>
          <p:cNvSpPr/>
          <p:nvPr/>
        </p:nvSpPr>
        <p:spPr>
          <a:xfrm>
            <a:off x="868680" y="5239512"/>
            <a:ext cx="10424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Doubly Linked List wins for playlists: it supports instant insert/delete anywhere and lets users skip forward or backward — exactly what dynamic playlist reordering needs.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0303  |  Data Structures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86384" y="1408176"/>
            <a:ext cx="607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Doubly Linked List Was Selected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dynamic add / remove / reorder operations in O(1) time.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pointers give instant next &amp; previous navigation.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and shrinks in memory without wasted or reallocated space.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exactly how real playlists are used — constantly changing.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0" y="149047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70064" y="1408176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1874520"/>
            <a:ext cx="4480560" cy="2331720"/>
          </a:xfrm>
          <a:prstGeom prst="roundRect">
            <a:avLst>
              <a:gd name="adj" fmla="val 3137"/>
            </a:avLst>
          </a:prstGeom>
          <a:solidFill>
            <a:srgbClr val="EAF2FB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360920" y="2103120"/>
            <a:ext cx="365760" cy="36576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609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0" y="21214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60920" y="2633472"/>
            <a:ext cx="365760" cy="36576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6092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0" y="26517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Music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60920" y="3163824"/>
            <a:ext cx="365760" cy="36576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6092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0" y="31821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Music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3694176"/>
            <a:ext cx="365760" cy="36576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6092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0" y="37124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Music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B3B6F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8680" y="5193792"/>
            <a:ext cx="10424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takeaway: for any application needing frequent reordering and edits — like music playlists — a Doubly Linked List offers the best balance of flexibility and efficiency.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0303  |  Data Structures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Dictionary Search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app must check instantly whether a word exists among thousands of entries.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expect results as they type — even a small delay feels broken.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efficiency becomes critical as the word database grows very large.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82219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86384" y="373989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AF2FB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22960" y="439826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51560" y="4270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checkers in Word / Google Docs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94690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51560" y="48188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Auto-complete search suggestions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49554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51560" y="5367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translation apps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39903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01384" y="131673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Search Efficiency Matters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182880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63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67728" y="1773936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at Scale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67728" y="204825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stay fast even with millions of words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88036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63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67728" y="2825496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Lookups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67728" y="309981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happens on almost every keystroke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393192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63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67728" y="3877056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67728" y="415137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expect near-zero response time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0303  |  Data Structures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· HASH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Data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Function: converts a word (key) into a numeric index using a formula.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Buckets: fixed-size array slots that store words at their computed index.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mapping: each word maps directly to a storage location.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handling: if two words hash to the same index, they are chained together in that bucket.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80760" y="139903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18504" y="1316736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 — How It Works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89320" y="1783080"/>
            <a:ext cx="5669280" cy="3931920"/>
          </a:xfrm>
          <a:prstGeom prst="roundRect">
            <a:avLst>
              <a:gd name="adj" fmla="val 1860"/>
            </a:avLst>
          </a:prstGeom>
          <a:solidFill>
            <a:srgbClr val="EAF2FB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6364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B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"app"   "apple"   "bat"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823960" y="2331720"/>
            <a:ext cx="9144" cy="365760"/>
          </a:xfrm>
          <a:prstGeom prst="line">
            <a:avLst/>
          </a:prstGeom>
          <a:noFill/>
          <a:ln w="22225">
            <a:solidFill>
              <a:srgbClr val="1B3B6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52360" y="2724912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52360" y="2724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  h(key)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23960" y="3227832"/>
            <a:ext cx="9144" cy="338328"/>
          </a:xfrm>
          <a:prstGeom prst="line">
            <a:avLst/>
          </a:prstGeom>
          <a:noFill/>
          <a:ln w="22225">
            <a:solidFill>
              <a:srgbClr val="1B3B6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309360" y="3611880"/>
            <a:ext cx="7772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09360" y="33558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05472" y="3611880"/>
            <a:ext cx="7772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205472" y="33558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01584" y="3611880"/>
            <a:ext cx="7772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101584" y="33558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97696" y="3611880"/>
            <a:ext cx="7772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997696" y="33558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893808" y="3611880"/>
            <a:ext cx="7772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893808" y="33558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01584" y="36118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97696" y="36118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793224" y="3863340"/>
            <a:ext cx="484632" cy="9144"/>
          </a:xfrm>
          <a:prstGeom prst="line">
            <a:avLst/>
          </a:prstGeom>
          <a:noFill/>
          <a:ln w="22225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0296144" y="3630168"/>
            <a:ext cx="466344" cy="46634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296144" y="36301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63640" y="4343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Collision: “app” &amp; “apple” share bucket 3 — resolved by chaining.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4709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(Array Index)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0303  |  Data Structures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· COMPLEXITY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86384" y="1362456"/>
            <a:ext cx="6345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7007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 </a:t>
            </a: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the word, place it directly into its bucket.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24140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 </a:t>
            </a: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the word, jump straight to its bucket, then check the (short) chain.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0098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312724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 </a:t>
            </a: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the word, locate it in the bucket, and unlink it.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6583680" cy="1965960"/>
          </a:xfrm>
          <a:prstGeom prst="roundRect">
            <a:avLst>
              <a:gd name="adj" fmla="val 3721"/>
            </a:avLst>
          </a:prstGeom>
          <a:solidFill>
            <a:srgbClr val="EAF2FB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425196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Notation: 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how an algorithm's time grows as input size (n) increases.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constant time — independent of how many words exist.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52360" y="144475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690104" y="136245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1828800"/>
          <a:ext cx="4206240" cy="2011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Average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Worst Case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Insert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Search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Delete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7452360" y="3794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occurs only when many words collide into the same bucket.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0303  |  Data Structures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· STRUCTURE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and Comparison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8346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Array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Binary Search Tree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Hash Table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Search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O(n) unsorted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O(log n) balanced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O(1) average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Insertion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O(n) shift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O(log n) balanced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O(1) average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Deletion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O(n) shift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O(log n) balanced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O(1) average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Memory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Fixed / resized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Pointers per node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Array + chains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3B6F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68680" y="4645152"/>
            <a:ext cx="10424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Hash Table wins for dictionary lookup: near-constant O(1) average search time, far outperforming an unsorted array or even a balanced tree.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0303  |  Data Structures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·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86384" y="1408176"/>
            <a:ext cx="607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Hash Table Was Selected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O(1) average-time search — ideal for instant word lookup.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mapping fits dictionary words perfectly.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handling keeps performance stable even as data grows.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gracefully to very large word databases.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0" y="149047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70064" y="1408176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1874520"/>
            <a:ext cx="4480560" cy="2331720"/>
          </a:xfrm>
          <a:prstGeom prst="roundRect">
            <a:avLst>
              <a:gd name="adj" fmla="val 3137"/>
            </a:avLst>
          </a:prstGeom>
          <a:solidFill>
            <a:srgbClr val="EAF2FB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360920" y="2103120"/>
            <a:ext cx="365760" cy="36576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609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0" y="21214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&amp; spell checkers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60920" y="2633472"/>
            <a:ext cx="365760" cy="36576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6092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(indexing)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60920" y="3163824"/>
            <a:ext cx="365760" cy="36576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6092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0" y="31821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(fast lookup)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60920" y="3694176"/>
            <a:ext cx="365760" cy="36576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6092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0" y="37124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Auto-complete engines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B3B6F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8680" y="5193792"/>
            <a:ext cx="10424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takeaway: for any system needing rapid existence checks on large data — like a dictionary — a Hash Table offers unmatched average-case search performance.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0303  |  Data Structures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Scheduling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scheduler must run jobs in order of importance, not just arrival order.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Higher-priority jobs must always be picked before lower-priority ones.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must efficiently insert new jobs and repeatedly fetch the most urgent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73075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86384" y="364845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 Idea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AF2FB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carries a priority level.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must always execute the 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highest-priority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job first — not simply the oldest.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39903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01384" y="131673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02920" cy="50292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63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67728" y="1773936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67728" y="204825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picks the next process to run by priority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880360"/>
            <a:ext cx="502920" cy="50292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63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67728" y="2825496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Scheduling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67728" y="309981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print jobs go before regular ones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02920" cy="50292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63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67728" y="3877056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Queue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67728" y="415137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patients are treated before routine cases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0303  |  Data Structures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· PRIORITY QUEUE (BINARY HEAP)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Data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Queue serves elements by priority, not arrival order — implemented efficiently with a Binary Heap.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structure: a complete binary tree stored compactly in an array.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Heap: every parent node is greater than or equal to its children (highest priority at root).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Heap: every parent node is smaller than its children (lowest value at root).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the root always holds the current highest-priority job.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80760" y="139903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18504" y="1316736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Heap — Tree Diagram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89320" y="1759635"/>
            <a:ext cx="5669280" cy="3931920"/>
          </a:xfrm>
          <a:prstGeom prst="roundRect">
            <a:avLst>
              <a:gd name="adj" fmla="val 1860"/>
            </a:avLst>
          </a:prstGeom>
          <a:solidFill>
            <a:srgbClr val="EAF2FB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7635240" y="2167128"/>
            <a:ext cx="1234440" cy="1078992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41080" y="2331720"/>
            <a:ext cx="1005840" cy="100584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 flipH="1">
            <a:off x="7086600" y="3429000"/>
            <a:ext cx="502920" cy="994508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635240" y="3337560"/>
            <a:ext cx="502920" cy="100584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 flipH="1">
            <a:off x="9206523" y="3417668"/>
            <a:ext cx="440397" cy="100584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646920" y="3337560"/>
            <a:ext cx="502920" cy="100584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366760" y="205740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83667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60920" y="3063240"/>
            <a:ext cx="548640" cy="54864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609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72600" y="3063240"/>
            <a:ext cx="548640" cy="54864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3726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4069080"/>
            <a:ext cx="548640" cy="54864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5800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63840" y="4069080"/>
            <a:ext cx="548640" cy="54864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8638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869680" y="4069080"/>
            <a:ext cx="548640" cy="54864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8696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875520" y="4069080"/>
            <a:ext cx="548640" cy="54864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875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4709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= highest priority job — always served first.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0303  |  Data Structures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· HEAP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86384" y="1316736"/>
            <a:ext cx="6437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Job: 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the next open leaf, then bubble it up until heap order is restored.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244144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Highest Priority: 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root, move the last node up, then sift it down.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321868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Peek: 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root value without removing it — instant access.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399592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Heapify: 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 an entire array into valid heap order.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52360" y="139903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690104" y="131673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1783080"/>
          <a:ext cx="4206240" cy="1920240"/>
        </p:xfrm>
        <a:graphic>
          <a:graphicData uri="http://schemas.openxmlformats.org/drawingml/2006/table">
            <a:tbl>
              <a:tblPr/>
              <a:tblGrid>
                <a:gridCol w="260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Time Complexity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Insert Job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O(log n)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Delete Highest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O(log n)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Peek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Heapify (build)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452360" y="397764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680960" y="416052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and delete only need to move a node up or down the tree height (log n) — far faster than scanning a full list for the highest priority job.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0303  |  Data Structures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· STRUCTURE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and Comparison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8346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Queue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Linked List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Priority Queue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Insertion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O(1) at rear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O(1) at head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O(log n) ordered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Deletion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O(1) at front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O(n) search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O(log n) always highest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Priority Handling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None (FIFO only)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Manual, slow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Built-in &amp; automatic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B6F"/>
                          </a:solidFill>
                        </a:rPr>
                        <a:t>Performance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Fast but unordered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Flexible, not priority-aware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Fast + priority-aware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3B6F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68680" y="4645152"/>
            <a:ext cx="10424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Queue (Binary Heap) wins for task scheduling: it always serves the most urgent job in O(log n) time — something a plain Queue or Linked List cannot guarantee.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0303  |  Data Structures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·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86384" y="1408176"/>
            <a:ext cx="607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Priority Queue Was Selected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serves the highest-priority job first, automatically.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and remove operations run in efficient O(log n) time.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gives instant O(1) access to the most urgent task.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models real-world priority-based scheduling.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0" y="1490472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70064" y="1408176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187452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EAF2FB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360920" y="210312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609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0" y="21214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scheduling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60920" y="2670048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6092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63840" y="26883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packet scheduling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60920" y="3236976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6092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63840" y="32552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task scheduling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60920" y="3803904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609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63840" y="3822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simulations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B3B6F"/>
          </a:solidFill>
          <a:ln/>
          <a:effectLst>
            <a:outerShdw blurRad="76200" dist="25400" dir="5400000" algn="bl" rotWithShape="0">
              <a:srgbClr val="8AA4C4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8680" y="5193792"/>
            <a:ext cx="10424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takeaway: whenever jobs must be executed by importance rather than arrival order, a Priority Queue built on a Binary Heap is the most efficient choice.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0303  |  Data Structures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206240" cy="420624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754880"/>
            <a:ext cx="3840480" cy="384048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-109416" y="310896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33375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SK. Akhil Ahammed   |   192572114   |   CSA 0303 — Data Structures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1888</Words>
  <Application>Microsoft Office PowerPoint</Application>
  <PresentationFormat>Custom</PresentationFormat>
  <Paragraphs>360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APEX PREDATOR</cp:lastModifiedBy>
  <cp:revision>3</cp:revision>
  <dcterms:created xsi:type="dcterms:W3CDTF">2026-07-25T02:33:11Z</dcterms:created>
  <dcterms:modified xsi:type="dcterms:W3CDTF">2026-08-03T03:22:58Z</dcterms:modified>
</cp:coreProperties>
</file>